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2D4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486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SOCCORSO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828800" y="1051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828800" y="1920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 SaaS per la gestione operativa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trasporto sanitario in Italia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28800" y="2880360"/>
            <a:ext cx="137160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112.219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codice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74320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84632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 DB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949440" y="3749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32D4A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riservato  |  Marzo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settore fermo al secolo scorso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78% delle organizzazioni di trasporto sanitario in Italia gestisce ancora le operazioni con carta, fogli Excel e telefonate. Questo genera inefficienze, errori e rischi di compliance.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manuale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Viaggi compilati su moduli cartacei, dati reinseriti a mano nei sistemi. Ore di lavoro perse ogni giorno.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205740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05740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40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visibilità real-time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26060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tracking GPS, nessun dato in tempo reale. Impossibile ottimizzare percorsi e risorse.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474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4747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576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compliance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868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CTS Art. 17, UTIF: obblighi gestiti manualmente. Un errore può costare migliaia di euro.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474720"/>
            <a:ext cx="3794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34747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6576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invisibili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4023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digitalizzazione, impossibile calcolare il costo reale per viaggio, veicolo o contratto.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piattaforma per tutto il ciclo operativo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15568" y="1810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per equipaggi in ambulanza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71800" y="146304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6002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4728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47288" y="18105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Pannello web per direttori e coordinatori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" y="233172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68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Real-time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115568" y="2679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veicoli via WebSocket in tempo reale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971800" y="233172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24688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447288" y="24048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 &amp; Planning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3447288" y="26791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Pianificazione turni con gestione disponibilità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40080" y="320040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3375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Smart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115568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QR/barcode con tracking scadenze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2971800" y="320040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1528" y="333756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447288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Automatici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3447288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UTIF, viaggi, rimborsi, autorizzazioni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40080" y="406908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206240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15568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Finanziaria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1115568" y="4416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costi per viaggio, veicolo, contratto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2971800" y="4069080"/>
            <a:ext cx="2148840" cy="713232"/>
          </a:xfrm>
          <a:prstGeom prst="rect">
            <a:avLst/>
          </a:prstGeom>
          <a:solidFill>
            <a:srgbClr val="F8F9FA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1528" y="4206240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447288" y="4142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Audit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3447288" y="4416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crittografico con hash chain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394960" y="1463040"/>
            <a:ext cx="3383280" cy="3337560"/>
          </a:xfrm>
          <a:prstGeom prst="rect">
            <a:avLst/>
          </a:prstGeom>
          <a:solidFill>
            <a:srgbClr val="0B1D33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920240"/>
            <a:ext cx="1280160" cy="12801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394960" y="3337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Multi-piattaforma</a:t>
            </a:r>
            <a:endParaRPr lang="en-US" sz="1600" dirty="0"/>
          </a:p>
        </p:txBody>
      </p:sp>
      <p:sp>
        <p:nvSpPr>
          <p:cNvPr id="39" name="Text 28"/>
          <p:cNvSpPr/>
          <p:nvPr/>
        </p:nvSpPr>
        <p:spPr>
          <a:xfrm>
            <a:off x="539496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Un’unica piattaforma per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dispositivi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5715000" y="4160520"/>
            <a:ext cx="86868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1" name="Text 30"/>
          <p:cNvSpPr/>
          <p:nvPr/>
        </p:nvSpPr>
        <p:spPr>
          <a:xfrm>
            <a:off x="5715000" y="4160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6766560" y="4160520"/>
            <a:ext cx="86868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3" name="Text 32"/>
          <p:cNvSpPr/>
          <p:nvPr/>
        </p:nvSpPr>
        <p:spPr>
          <a:xfrm>
            <a:off x="6766560" y="4160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818120" y="4160520"/>
            <a:ext cx="86868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5" name="Text 34"/>
          <p:cNvSpPr/>
          <p:nvPr/>
        </p:nvSpPr>
        <p:spPr>
          <a:xfrm>
            <a:off x="7818120" y="416052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INNOVAZIONI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Tecnologie che fanno la differenza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94760" cy="96012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726387"/>
            <a:ext cx="204826" cy="204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00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crittografica HMAC-SHA256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viaggio viene firmato digitalmente con HMAC-SHA256. Un QR code permette la verifica di integrità in qualsiasi momento. Impossibile alterare i dati.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508760"/>
            <a:ext cx="3794760" cy="96012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1508760"/>
            <a:ext cx="54864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4892040" y="16459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507" y="1726387"/>
            <a:ext cx="204826" cy="2048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600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GPS real-time via WebSocket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9204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Posizione delle ambulanze in tempo reale trasmessa via WebSocket. Digital twin dei veicoli con aggiornamento istantaneo sulla mappa.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2651760"/>
            <a:ext cx="3794760" cy="96012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17" name="Shape 13"/>
          <p:cNvSpPr/>
          <p:nvPr/>
        </p:nvSpPr>
        <p:spPr>
          <a:xfrm>
            <a:off x="640080" y="2651760"/>
            <a:ext cx="54864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2869387"/>
            <a:ext cx="204826" cy="2048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743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con catena hash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3108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operazione è registrata in una catena hash crittografica, ISO 27001 ready. Garanzia di integrità e non-ripudiabilità per audit e contenziosi.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9160" y="2651760"/>
            <a:ext cx="3794760" cy="96012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23" name="Shape 18"/>
          <p:cNvSpPr/>
          <p:nvPr/>
        </p:nvSpPr>
        <p:spPr>
          <a:xfrm>
            <a:off x="4709160" y="2651760"/>
            <a:ext cx="54864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Shape 19"/>
          <p:cNvSpPr/>
          <p:nvPr/>
        </p:nvSpPr>
        <p:spPr>
          <a:xfrm>
            <a:off x="4892040" y="27889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507" y="2869387"/>
            <a:ext cx="204826" cy="20482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2743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burnout AI-driven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92040" y="3108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monitora i carichi di lavoro del personale, rileva pattern di burnout e genera alert preventivi. Wellness check-in integrati.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0080" y="3794760"/>
            <a:ext cx="3794760" cy="96012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29" name="Shape 23"/>
          <p:cNvSpPr/>
          <p:nvPr/>
        </p:nvSpPr>
        <p:spPr>
          <a:xfrm>
            <a:off x="640080" y="3794760"/>
            <a:ext cx="54864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0" name="Shape 24"/>
          <p:cNvSpPr/>
          <p:nvPr/>
        </p:nvSpPr>
        <p:spPr>
          <a:xfrm>
            <a:off x="822960" y="39319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" y="4012387"/>
            <a:ext cx="204826" cy="20482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ESG e impronta carbonio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22960" y="4251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automatico dell’impronta di CO₂ per ogni viaggio. Obiettivi di sostenibilità, snapshot mensili e report di impatto ambientale.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709160" y="3794760"/>
            <a:ext cx="3794760" cy="960120"/>
          </a:xfrm>
          <a:prstGeom prst="rect">
            <a:avLst/>
          </a:prstGeom>
          <a:solidFill>
            <a:srgbClr val="132D4A"/>
          </a:solidFill>
          <a:ln/>
        </p:spPr>
      </p:sp>
      <p:sp>
        <p:nvSpPr>
          <p:cNvPr id="35" name="Shape 28"/>
          <p:cNvSpPr/>
          <p:nvPr/>
        </p:nvSpPr>
        <p:spPr>
          <a:xfrm>
            <a:off x="4709160" y="3794760"/>
            <a:ext cx="54864" cy="9601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Shape 29"/>
          <p:cNvSpPr/>
          <p:nvPr/>
        </p:nvSpPr>
        <p:spPr>
          <a:xfrm>
            <a:off x="4892040" y="39319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507" y="4012387"/>
            <a:ext cx="204826" cy="20482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394960" y="38862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con scansione GS1 DataMatrix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892040" y="4251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Scansione QR/barcode GS1 per gestire materiale sanitario. Tracciamento scadenze, alert automatici, workflow di ripristino.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enterprise-grade, scalabile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329184" cy="329184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500" y="1690908"/>
            <a:ext cx="184343" cy="1843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7280" y="1554480"/>
            <a:ext cx="41148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4"/>
          <p:cNvSpPr/>
          <p:nvPr/>
        </p:nvSpPr>
        <p:spPr>
          <a:xfrm>
            <a:off x="12344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0.81 + Expo SDK 54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49240" y="1554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schermate, offline-first, GPS, camera, barcode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185416"/>
            <a:ext cx="329184" cy="329184"/>
          </a:xfrm>
          <a:prstGeom prst="ellipse">
            <a:avLst/>
          </a:prstGeom>
          <a:solidFill>
            <a:srgbClr val="2980B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0" y="2257836"/>
            <a:ext cx="184343" cy="18434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97280" y="2121408"/>
            <a:ext cx="41148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3" name="Text 9"/>
          <p:cNvSpPr/>
          <p:nvPr/>
        </p:nvSpPr>
        <p:spPr>
          <a:xfrm>
            <a:off x="1234440" y="2121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WEB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1760" y="21214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HTML/JS + CSS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349240" y="2121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Calendario, firma digitale, analytics, gestione dati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2752344"/>
            <a:ext cx="329184" cy="329184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" y="2824764"/>
            <a:ext cx="184343" cy="184343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97280" y="2688336"/>
            <a:ext cx="41148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4"/>
          <p:cNvSpPr/>
          <p:nvPr/>
        </p:nvSpPr>
        <p:spPr>
          <a:xfrm>
            <a:off x="1234440" y="26883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651760" y="26883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TypeScript strict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349240" y="26883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 endpoint REST, WebSocket real-time, rate limiting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3319272"/>
            <a:ext cx="329184" cy="329184"/>
          </a:xfrm>
          <a:prstGeom prst="ellipse">
            <a:avLst/>
          </a:prstGeom>
          <a:solidFill>
            <a:srgbClr val="0B1D3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0" y="3391692"/>
            <a:ext cx="184343" cy="184343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097280" y="3255264"/>
            <a:ext cx="4114800" cy="45720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25" name="Text 19"/>
          <p:cNvSpPr/>
          <p:nvPr/>
        </p:nvSpPr>
        <p:spPr>
          <a:xfrm>
            <a:off x="1234440" y="32552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2651760" y="3255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Drizzle ORM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349240" y="325526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tabelle, multi-tenant, UUID keys, hash chain audit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40080" y="3959352"/>
            <a:ext cx="7863840" cy="27432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40507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INTEGRAZIONI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40080" y="4306824"/>
            <a:ext cx="14173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40080" y="4315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640080" y="4526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2240280" y="4306824"/>
            <a:ext cx="14173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2240280" y="4315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240280" y="4526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3840480" y="4306824"/>
            <a:ext cx="14173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3840480" y="4315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3840480" y="4526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440680" y="4306824"/>
            <a:ext cx="14173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5440680" y="4315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5440680" y="4526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7040880" y="4306824"/>
            <a:ext cx="14173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7040880" y="4315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7040880" y="45262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 FUNZIONALI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Copertura operativa completa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642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Viaggi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rapido, GPS tracking, firma HMAC-SHA256, cronologia filtri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1554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642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 &amp; Planning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Griglia mensile, pattern multi-giorno, swap request, audit log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554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126480" y="1554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642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Personale &amp; HR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636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44+ campi per operatore, burnout monitoring, wellness, formazione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40080" y="2697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2697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8072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772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livelli: template, dinamico, usage tracking. Scansione GS1 barcode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83280" y="2697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19"/>
          <p:cNvSpPr/>
          <p:nvPr/>
        </p:nvSpPr>
        <p:spPr>
          <a:xfrm>
            <a:off x="3383280" y="2697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8072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 &amp; Costi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5204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automatico, fatturazione per contratto, previsioni ricavi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26480" y="2697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126480" y="2697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80720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2940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2636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CTS Art. 17, UTIF. Audit trail crittografico ISO 27001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40080" y="3840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40080" y="3840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95020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430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PDF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7772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template: UTIF, report viaggi, autorizzazioni, rimborsi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3383280" y="3840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Shape 31"/>
          <p:cNvSpPr/>
          <p:nvPr/>
        </p:nvSpPr>
        <p:spPr>
          <a:xfrm>
            <a:off x="3383280" y="3840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95020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8862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35204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GPS, digital twin veicoli, notifiche live, annunci</a:t>
            </a:r>
            <a:endParaRPr lang="en-US" sz="950" dirty="0"/>
          </a:p>
        </p:txBody>
      </p:sp>
      <p:sp>
        <p:nvSpPr>
          <p:cNvPr id="44" name="Shape 34"/>
          <p:cNvSpPr/>
          <p:nvPr/>
        </p:nvSpPr>
        <p:spPr>
          <a:xfrm>
            <a:off x="6126480" y="3840480"/>
            <a:ext cx="2514600" cy="9601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35"/>
          <p:cNvSpPr/>
          <p:nvPr/>
        </p:nvSpPr>
        <p:spPr>
          <a:xfrm>
            <a:off x="6126480" y="3840480"/>
            <a:ext cx="36576" cy="96012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3950208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62940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&amp; Impatto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62636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per viaggio, obiettivi sostenibilità, dashboard impatto pubblico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security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completa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dati su 140 tabelle con organizationId. Ogni organizzazione vede esclusivamente i propri dati.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6576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per ogni viaggio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crittografica con verifica via QR code. Stato: VALID, BROKEN o NOT_SIGNED.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6576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con hash chain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Catena hash crittografica ISO 27001 ready. Non-ripudiabilità garantita per ogni operazione.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606040"/>
            <a:ext cx="36576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 nativa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dati automatizzato, workflow cancellazione, tracciamento consensi, data retention policy.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6576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multi-livello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ruoli: crew, admin, director, branch manager, org admin. Ruoli personalizzabili per organizzazione.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703320"/>
            <a:ext cx="36576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749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Volontari 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69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elettronico Art. 17 Codice Terzo Settore con firma crittografica e conservazione legale.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3.000+ organizzazioni in Italia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comitati locali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Croce Rossa Italiana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14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confraternite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Misericordie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14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91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26480" y="2057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associazioni federate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14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associazioni territoriali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Croce Bianca / Verde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514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83280" y="3611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privati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Ambulanze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514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2461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36118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 appaltanti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9319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ULSS / ASL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Italia: 3.000+ organizzazioni   │   Mercato europeo: 50.000+   │   CAGR settore: +12%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PROGETTO IN NUMERI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piattaforma più completa del settore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1828800" cy="4572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112.219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codice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TypeScript/TSX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155448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554480"/>
            <a:ext cx="18288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554480"/>
            <a:ext cx="1828800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155448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1554480"/>
            <a:ext cx="18288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200400"/>
            <a:ext cx="1828800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320040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3200400"/>
            <a:ext cx="1828800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119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65176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Dipendenze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0" y="3200400"/>
            <a:ext cx="1828800" cy="4572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D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66344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0" y="3200400"/>
            <a:ext cx="1828800" cy="14173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3200400"/>
            <a:ext cx="18288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675120" y="3977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VALUTAZIONE ECONOMICA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valore del lavoro svolto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57600" cy="2194560"/>
          </a:xfrm>
          <a:prstGeom prst="rect">
            <a:avLst/>
          </a:prstGeom>
          <a:solidFill>
            <a:srgbClr val="0B1D33"/>
          </a:solidFill>
          <a:ln/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€347.050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828800" y="2651760"/>
            <a:ext cx="128016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 totale stimato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6.310 ore  ×  €55/ora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Ripartizione ore per area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2560320" cy="201168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984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2.400h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212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(API, DB, WebSocket)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514600"/>
            <a:ext cx="1886552" cy="201168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6732872" y="248716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1.800h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715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Mobile (44 screens)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539015" cy="20116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7" name="Text 15"/>
          <p:cNvSpPr/>
          <p:nvPr/>
        </p:nvSpPr>
        <p:spPr>
          <a:xfrm>
            <a:off x="5385335" y="29900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218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&amp; Design System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336884" cy="2011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5183204" y="34930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721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 &amp; Crittografia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1414914" cy="201168"/>
          </a:xfrm>
          <a:prstGeom prst="rect">
            <a:avLst/>
          </a:prstGeom>
          <a:solidFill>
            <a:srgbClr val="95A5A6"/>
          </a:solidFill>
          <a:ln/>
        </p:spPr>
      </p:sp>
      <p:sp>
        <p:nvSpPr>
          <p:cNvPr id="23" name="Text 21"/>
          <p:cNvSpPr/>
          <p:nvPr/>
        </p:nvSpPr>
        <p:spPr>
          <a:xfrm>
            <a:off x="6261234" y="39959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1.310h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4224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Analisi, Test, Deploy, Docs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977640"/>
            <a:ext cx="78638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realizzato da un team esterno: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4343400"/>
            <a:ext cx="54864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€347K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4553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Singolo dev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(attuale)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4343400"/>
            <a:ext cx="54864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€450–600K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40480" y="4553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Agenzia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(2-3 dev)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4343400"/>
            <a:ext cx="54864" cy="45720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€600–900K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583680" y="4553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strutturata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Prossimi passi per la crescita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74520" cy="320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8745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 Pilota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organizzazioni pilota nella regione Veneto. Onboarding assistito, raccolta feedback, ottimizzazione UX.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56032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0" y="1554480"/>
            <a:ext cx="1874520" cy="3200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1554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1874520"/>
            <a:ext cx="18745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Espansione Regionale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880360" y="23774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Lancio commerciale in Veneto e Lombardia. Pricing SaaS definitivo. Integrazioni con sistemi 118.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60320"/>
            <a:ext cx="228600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846320" y="1554480"/>
            <a:ext cx="1874520" cy="320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3"/>
          <p:cNvSpPr/>
          <p:nvPr/>
        </p:nvSpPr>
        <p:spPr>
          <a:xfrm>
            <a:off x="4846320" y="1554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846320" y="1874520"/>
            <a:ext cx="18745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Text 15"/>
          <p:cNvSpPr/>
          <p:nvPr/>
        </p:nvSpPr>
        <p:spPr>
          <a:xfrm>
            <a:off x="498348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Nazionale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983480" y="23774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 federazioni (ANPAS, Misericordie). App Store / Play Store. Team di supporto dedicato.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560320"/>
            <a:ext cx="228600" cy="228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949440" y="1554480"/>
            <a:ext cx="187452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18"/>
          <p:cNvSpPr/>
          <p:nvPr/>
        </p:nvSpPr>
        <p:spPr>
          <a:xfrm>
            <a:off x="6949440" y="1554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49440" y="1874520"/>
            <a:ext cx="1874520" cy="2011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Text 20"/>
          <p:cNvSpPr/>
          <p:nvPr/>
        </p:nvSpPr>
        <p:spPr>
          <a:xfrm>
            <a:off x="708660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 Europeo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086600" y="23774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Localizzazione multilingua. Compliance normativa EU. Espansione DACH e Iberia.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Soccorso Digitale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931920" y="2606040"/>
            <a:ext cx="128016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788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6E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a digitalizzare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6E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trasporto sanitario?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7033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04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adrianveeofficial@gmail.com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06908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2044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disponibile su richiesta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Adrian Vee  |  Tutti i diritti riservati  |  Documento riservato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Soccorso Digitale — Pitch Deck</dc:title>
  <dc:subject>PptxGenJS Presentation</dc:subject>
  <dc:creator>Adrian Vee</dc:creator>
  <cp:lastModifiedBy>Adrian Vee</cp:lastModifiedBy>
  <cp:revision>1</cp:revision>
  <dcterms:created xsi:type="dcterms:W3CDTF">2026-03-22T19:18:15Z</dcterms:created>
  <dcterms:modified xsi:type="dcterms:W3CDTF">2026-03-22T19:18:15Z</dcterms:modified>
</cp:coreProperties>
</file>